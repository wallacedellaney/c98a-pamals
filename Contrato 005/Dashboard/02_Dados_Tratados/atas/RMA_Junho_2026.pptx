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65" r:id="rId15"/>
    <p:sldId id="269" r:id="rId19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y="6858000" cx="12192000"/>
  <p:notesSz cx="6858000" cy="9144000"/>
  <p:embeddedFontLst>
    <p:embeddedFont>
      <p:font typeface="Play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/jMPkFtsKMbiIPFj/9Hn4Q0aX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E20384-2E9D-48F9-A33C-84B13EF97D0C}">
  <a:tblStyle styleId="{F7E20384-2E9D-48F9-A33C-84B13EF97D0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5" Type="http://schemas.openxmlformats.org/officeDocument/2006/relationships/slide" Target="slides/slide10.xml"/><Relationship Id="rId19" Type="http://schemas.openxmlformats.org/officeDocument/2006/relationships/slide" Target="slides/slide14.xml"/><Relationship Id="rId25" Type="http://schemas.openxmlformats.org/officeDocument/2006/relationships/font" Target="fonts/Play-regular.fntdata"/><Relationship Id="rId26" Type="http://schemas.openxmlformats.org/officeDocument/2006/relationships/font" Target="fonts/Play-bold.fntdata"/><Relationship Id="rId27" Type="http://customschemas.google.com/relationships/presentationmetadata" Target="metadata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Quantidade</c:v>
                </c:pt>
              </c:strCache>
            </c:strRef>
          </c:tx>
          <c:dPt>
            <c:idx val="0"/>
            <c:spPr>
              <a:solidFill>
                <a:srgbClr val="E2564F"/>
              </a:solidFill>
            </c:spPr>
          </c:dPt>
          <c:cat>
            <c:strRef>
              <c:f>Sheet1!$A$2:$A$2</c:f>
              <c:strCache>
                <c:ptCount val="1"/>
                <c:pt idx="0">
                  <c:v>Pendente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294.0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Quantidade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Sheet1!$A$2:$A$3</c:f>
              <c:strCache>
                <c:ptCount val="2"/>
                <c:pt idx="0">
                  <c:v>C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288.0</c:v>
                </c:pt>
                <c:pt idx="1">
                  <c:v>6.0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3E3E3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Quantidade</c:v>
                </c:pt>
              </c:strCache>
            </c:strRef>
          </c:tx>
          <c:spPr>
            <a:solidFill>
              <a:srgbClr val="5FD0D9"/>
            </a:solidFill>
          </c:spPr>
          <c:cat>
            <c:strRef>
              <c:f>Sheet1!$A$2:$A$6</c:f>
              <c:strCache>
                <c:ptCount val="5"/>
                <c:pt idx="0">
                  <c:v>BABR</c:v>
                </c:pt>
                <c:pt idx="1">
                  <c:v>BABE</c:v>
                </c:pt>
                <c:pt idx="2">
                  <c:v>BAMN</c:v>
                </c:pt>
                <c:pt idx="3">
                  <c:v>DACTA II</c:v>
                </c:pt>
                <c:pt idx="4">
                  <c:v>BANT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188.0</c:v>
                </c:pt>
                <c:pt idx="1">
                  <c:v>87.0</c:v>
                </c:pt>
                <c:pt idx="2">
                  <c:v>11.0</c:v>
                </c:pt>
                <c:pt idx="3">
                  <c:v>5.0</c:v>
                </c:pt>
                <c:pt idx="4">
                  <c:v>3.0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E3E3E3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Quantidade</c:v>
                </c:pt>
              </c:strCache>
            </c:strRef>
          </c:tx>
          <c:dPt>
            <c:idx val="0"/>
            <c:spPr>
              <a:solidFill>
                <a:srgbClr val="4FB477"/>
              </a:solidFill>
            </c:spPr>
          </c:dPt>
          <c:dPt>
            <c:idx val="1"/>
            <c:spPr>
              <a:solidFill>
                <a:srgbClr val="E2564F"/>
              </a:solidFill>
            </c:spPr>
          </c:dPt>
          <c:cat>
            <c:strRef>
              <c:f>Sheet1!$A$2:$A$3</c:f>
              <c:strCache>
                <c:ptCount val="2"/>
                <c:pt idx="0">
                  <c:v>OK</c:v>
                </c:pt>
                <c:pt idx="1">
                  <c:v>Pendente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59.0</c:v>
                </c:pt>
                <c:pt idx="1">
                  <c:v>946.0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Quantidade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Sheet1!$A$2:$A$4</c:f>
              <c:strCache>
                <c:ptCount val="3"/>
                <c:pt idx="0">
                  <c:v>C</c:v>
                </c:pt>
                <c:pt idx="1">
                  <c:v>R</c:v>
                </c:pt>
                <c:pt idx="2">
                  <c:v>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896.0</c:v>
                </c:pt>
                <c:pt idx="1">
                  <c:v>96.0</c:v>
                </c:pt>
                <c:pt idx="2">
                  <c:v>13.0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3E3E3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Quantidade</c:v>
                </c:pt>
              </c:strCache>
            </c:strRef>
          </c:tx>
          <c:spPr>
            <a:solidFill>
              <a:srgbClr val="5FD0D9"/>
            </a:solidFill>
          </c:spPr>
          <c:cat>
            <c:strRef>
              <c:f>Sheet1!$A$2:$A$9</c:f>
              <c:strCache>
                <c:ptCount val="8"/>
                <c:pt idx="0">
                  <c:v>BABR</c:v>
                </c:pt>
                <c:pt idx="1">
                  <c:v>BANT</c:v>
                </c:pt>
                <c:pt idx="2">
                  <c:v>BABE</c:v>
                </c:pt>
                <c:pt idx="3">
                  <c:v>BACO</c:v>
                </c:pt>
                <c:pt idx="4">
                  <c:v>EPCAR</c:v>
                </c:pt>
                <c:pt idx="5">
                  <c:v>BAMN</c:v>
                </c:pt>
                <c:pt idx="6">
                  <c:v>CLA</c:v>
                </c:pt>
                <c:pt idx="7">
                  <c:v>BACG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340.0</c:v>
                </c:pt>
                <c:pt idx="1">
                  <c:v>246.0</c:v>
                </c:pt>
                <c:pt idx="2">
                  <c:v>172.0</c:v>
                </c:pt>
                <c:pt idx="3">
                  <c:v>108.0</c:v>
                </c:pt>
                <c:pt idx="4">
                  <c:v>41.0</c:v>
                </c:pt>
                <c:pt idx="5">
                  <c:v>38.0</c:v>
                </c:pt>
                <c:pt idx="6">
                  <c:v>28.0</c:v>
                </c:pt>
                <c:pt idx="7">
                  <c:v>16.0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E3E3E3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Quantidade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Sheet1!$A$2:$A$4</c:f>
              <c:strCache>
                <c:ptCount val="3"/>
                <c:pt idx="0">
                  <c:v>Com a empresa</c:v>
                </c:pt>
                <c:pt idx="1">
                  <c:v>Terceirizadas</c:v>
                </c:pt>
                <c:pt idx="2">
                  <c:v>Bases FAB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101</c:v>
                </c:pt>
                <c:pt idx="1">
                  <c:v>97</c:v>
                </c:pt>
                <c:pt idx="2">
                  <c:v>126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3E3E3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Quantidade</c:v>
                </c:pt>
              </c:strCache>
            </c:strRef>
          </c:tx>
          <c:spPr>
            <a:solidFill>
              <a:srgbClr val="5FD0D9"/>
            </a:solidFill>
          </c:spPr>
          <c:cat>
            <c:strRef>
              <c:f>Sheet1!$A$2:$A$10</c:f>
              <c:strCache>
                <c:ptCount val="9"/>
                <c:pt idx="0">
                  <c:v>EM REPARO</c:v>
                </c:pt>
                <c:pt idx="1">
                  <c:v>REPARADO</c:v>
                </c:pt>
                <c:pt idx="2">
                  <c:v>CONDENADO</c:v>
                </c:pt>
                <c:pt idx="3">
                  <c:v>VAI SER DEVOLVIDO SEM REPARO</c:v>
                </c:pt>
                <c:pt idx="4">
                  <c:v>DEVOLVIDO NO ESTADO</c:v>
                </c:pt>
                <c:pt idx="5">
                  <c:v>NO ESTADO</c:v>
                </c:pt>
                <c:pt idx="6">
                  <c:v>EM REPARO EM GARANTIA</c:v>
                </c:pt>
                <c:pt idx="7">
                  <c:v>EM QUARENTENA</c:v>
                </c:pt>
                <c:pt idx="8">
                  <c:v>PARA REPARO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109</c:v>
                </c:pt>
                <c:pt idx="1">
                  <c:v>58</c:v>
                </c:pt>
                <c:pt idx="2">
                  <c:v>15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3E3E3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Quantidade</c:v>
                </c:pt>
              </c:strCache>
            </c:strRef>
          </c:tx>
          <c:dPt>
            <c:idx val="0"/>
            <c:spPr>
              <a:solidFill>
                <a:srgbClr val="4FB477"/>
              </a:solidFill>
            </c:spPr>
          </c:dPt>
          <c:dPt>
            <c:idx val="1"/>
            <c:spPr>
              <a:solidFill>
                <a:srgbClr val="E2564F"/>
              </a:solidFill>
            </c:spPr>
          </c:dPt>
          <c:cat>
            <c:strRef>
              <c:f>Sheet1!$A$2:$A$3</c:f>
              <c:strCache>
                <c:ptCount val="2"/>
                <c:pt idx="0">
                  <c:v>No prazo</c:v>
                </c:pt>
                <c:pt idx="1">
                  <c:v>Atrasado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</c:v>
                </c:pt>
                <c:pt idx="1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1f53ed38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f1f53ed38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5e784ee47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95e784ee47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95e784ee47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0843aab78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0843aab78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e0843aab78_0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838200" y="451381"/>
            <a:ext cx="10512600" cy="40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rPr lang="pt-BR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RMA </a:t>
            </a:r>
            <a:r>
              <a:rPr lang="pt-BR" sz="6600"/>
              <a:t>JUNHO</a:t>
            </a:r>
            <a:endParaRPr sz="6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t/>
            </a:r>
            <a:endParaRPr sz="6600"/>
          </a:p>
        </p:txBody>
      </p:sp>
      <p:sp>
        <p:nvSpPr>
          <p:cNvPr id="89" name="Google Shape;89;p1"/>
          <p:cNvSpPr txBox="1"/>
          <p:nvPr/>
        </p:nvSpPr>
        <p:spPr>
          <a:xfrm>
            <a:off x="838199" y="4983276"/>
            <a:ext cx="105126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Contrato 005/CELOG -PAMALS/2025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451381"/>
            <a:ext cx="10512552" cy="40665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rPr lang="pt-BR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Objetivo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838199" y="4983276"/>
            <a:ext cx="10512552" cy="112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Apresentar a média mensal de aeronave montada  do contrato 005/CELOG -PAMALS/2025 de </a:t>
            </a:r>
            <a:r>
              <a:rPr lang="pt-BR" sz="2400"/>
              <a:t>junho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 descr="_matriz_2026-06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0" y="1300000"/>
            <a:ext cx="11952000" cy="382464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20000" y="5274640"/>
            <a:ext cx="11952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6A00"/>
                </a:solidFill>
              </a:rPr>
              <a:t>Média Mensal de Aeronaves Montadas MMAM: 90,43%</a:t>
            </a:r>
          </a:p>
          <a:p>
            <a:r>
              <a:rPr sz="1100" b="1">
                <a:solidFill>
                  <a:srgbClr val="C06A00"/>
                </a:solidFill>
              </a:rPr>
              <a:t>PONTUAÇÃO OBTIDA (P): 624</a:t>
            </a:r>
          </a:p>
          <a:p>
            <a:r>
              <a:rPr sz="1100" b="1">
                <a:solidFill>
                  <a:srgbClr val="C06A00"/>
                </a:solidFill>
              </a:rPr>
              <a:t>PONT. MAX NO MÊS (PMAX): 690</a:t>
            </a:r>
          </a:p>
          <a:p>
            <a:r>
              <a:rPr sz="1100" b="1">
                <a:solidFill>
                  <a:srgbClr val="C06A00"/>
                </a:solidFill>
              </a:rPr>
              <a:t>Índice Final de Desempenho IFD: 0,95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147" descr="_matriz_2026-06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0" y="1300000"/>
            <a:ext cx="11952000" cy="3824640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20000" y="5274640"/>
            <a:ext cx="11952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6A00"/>
                </a:solidFill>
              </a:rPr>
              <a:t>Média Mensal de Aeronaves Montadas MMAM: 90,43%</a:t>
            </a:r>
          </a:p>
          <a:p>
            <a:r>
              <a:rPr sz="1100" b="1">
                <a:solidFill>
                  <a:srgbClr val="C06A00"/>
                </a:solidFill>
              </a:rPr>
              <a:t>PONTUAÇÃO OBTIDA (P): 624</a:t>
            </a:r>
          </a:p>
          <a:p>
            <a:r>
              <a:rPr sz="1100" b="1">
                <a:solidFill>
                  <a:srgbClr val="C06A00"/>
                </a:solidFill>
              </a:rPr>
              <a:t>PONT. MAX NO MÊS (PMAX): 690</a:t>
            </a:r>
          </a:p>
          <a:p>
            <a:r>
              <a:rPr sz="1100" b="1">
                <a:solidFill>
                  <a:srgbClr val="C06A00"/>
                </a:solidFill>
              </a:rPr>
              <a:t>Índice Final de Desempenho IFD: 0,95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71"/>
          <p:cNvSpPr txBox="1"/>
          <p:nvPr/>
        </p:nvSpPr>
        <p:spPr>
          <a:xfrm>
            <a:off x="340000" y="150000"/>
            <a:ext cx="11512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020"/>
                </a:solidFill>
              </a:rPr>
              <a:t>Pagamentos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40000" y="650000"/>
            <a:ext cx="11512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6A00"/>
                </a:solidFill>
              </a:rPr>
              <a:t>Valor total do contrato: R$ 91,651,597.37   ·   Liquidado: R$ 8,248,487.61   ·   Saldo a faturar: R$ 10,859,430.44</a:t>
            </a:r>
          </a:p>
        </p:txBody>
      </p:sp>
      <p:graphicFrame>
        <p:nvGraphicFramePr>
          <p:cNvPr id="174" name="Table 173"/>
          <p:cNvGraphicFramePr>
            <a:graphicFrameLocks noGrp="1"/>
          </p:cNvGraphicFramePr>
          <p:nvPr/>
        </p:nvGraphicFramePr>
        <p:xfrm>
          <a:off x="300000" y="990000"/>
          <a:ext cx="11591996" cy="5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076"/>
                <a:gridCol w="1040307"/>
                <a:gridCol w="1188923"/>
                <a:gridCol w="1188923"/>
                <a:gridCol w="1634769"/>
                <a:gridCol w="1634769"/>
                <a:gridCol w="1486153"/>
                <a:gridCol w="1040307"/>
                <a:gridCol w="1634769"/>
              </a:tblGrid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MÓDULO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REFERÊNCIA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Nº NOTA FISCAL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DATA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VALOR NFs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FATURADO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SITUAÇÃO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EMPENHO RESPONSÁVEL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FEV/25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594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24/03/2025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R$ 748,504.24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R$ 748,504.24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MAR/25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620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28/04/2025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R$ 1,110,378.24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R$ 1,110,378.24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ABR/25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634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22/05/2025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R$ 974,557.12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R$ 974,557.12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MAI/25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660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18/07/2025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R$ 1,402,001.34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R$ 1,402,001.34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JUN/25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661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18/07/2025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R$ 1,223,702.30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R$ 1,223,702.30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JUL/25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688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01/09/2025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R$ 1,011,677.95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R$ 1,011,677.95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AGO/25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696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23/09/2025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R$ 896,744.06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R$ 896,744.06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SET/25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704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27/10/2025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R$ 919,329.06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R$ 919,329.06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OUT/25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705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11/11/2025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R$ 1,157,009.26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R$ 1,157,009.26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NOV/25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728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17/12/2025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R$ 1,214,597.95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R$ 1,214,597.95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DEZ/25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278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20/01/2026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R$ 967,082.09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R$ 967,082.09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JAN/26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25/02/2026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R$ 719,561.08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R$ 719,561.08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FEV/26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13/03/2026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R$ 885,881.08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R$ 885,881.08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MAR/26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16/04/2026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R$ 1,350,542.52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R$ 1,350,542.52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ABR/26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14/05/2026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R$ 1,108,954.44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R$ 1,108,954.44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REAJUSTE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07/05/2026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R$ 218,206.10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R$ 218,206.10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MAIO/26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40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14/05/2026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R$ 1,549,250.84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R$ 1,549,250.84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Módulo II – Parcial Orçamento 10 (FAB 2728)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402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14/05/2025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R$ 188,246.17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R$ 188,246.17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Módulo II – Orçamento 06 (Hélice)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447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06/06/2025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R$ 112,720.77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R$ 112,720.77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Módulo II – Restante do Orçamento 10.2 (FAB 2721)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529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15/07/2025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R$ 378,307.61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R$ 378,307.61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Módulo II – Restante do Orçamento 10.3 (FAB 2721)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691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10/09/2025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R$ 3,315.05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R$ 3,315.05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Módulo II – Parcial Orçamento 11 (FAB 2721)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677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04/09/2025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R$ 198,332.75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R$ 198,332.75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Módulo II – Orçamento 12 (Hélice)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278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17/12/2025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R$ 1,528.62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R$ 1,528.62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Módulo II – Parcial Orçamento 13 (FAB 2721)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748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30/09/2025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R$ 38,718.58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R$ 38,718.58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Módulo II – Orçamento 14 (Hélice)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822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07/11/2025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R$ 133,124.11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R$ 133,124.11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Módulo II – Orçamento 18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21/01/2026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R$ 11,372.90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R$ 11,372.90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Pago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Módulo II – Orçamento 01/26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R$ 15,854.78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Módulo II – Orçamento 03/26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R$ 24,962.38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9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Módulo III – Orçamento 17 Manuais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1465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23/03/2026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R$ 27,801.11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R$ 27,801.11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Faturado, aguardando pagamento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0000" y="150000"/>
          <a:ext cx="11592000" cy="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50"/>
              </a:tblGrid>
              <a:tr h="125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DIA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ANV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25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2738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0000" y="900000"/>
          <a:ext cx="11591986" cy="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46"/>
                <a:gridCol w="424837"/>
                <a:gridCol w="667602"/>
                <a:gridCol w="546219"/>
                <a:gridCol w="971057"/>
                <a:gridCol w="303455"/>
                <a:gridCol w="364146"/>
                <a:gridCol w="606910"/>
                <a:gridCol w="364146"/>
                <a:gridCol w="546219"/>
                <a:gridCol w="546219"/>
                <a:gridCol w="303455"/>
                <a:gridCol w="303455"/>
                <a:gridCol w="546219"/>
                <a:gridCol w="667602"/>
                <a:gridCol w="606910"/>
                <a:gridCol w="364146"/>
                <a:gridCol w="364146"/>
                <a:gridCol w="364146"/>
                <a:gridCol w="546219"/>
                <a:gridCol w="1820732"/>
              </a:tblGrid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OM_EMG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EMERGÊNCIA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PN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NOMENCLATURA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CAT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MATR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ST_EMG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TPEMG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INFO 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QT_EMG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PRAZO DE ENTREGA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DPE VEE 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Atd/cancelada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DIAS ATRASO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DIAS CORRIDOS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Estoque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Retirado pela empresa? Obrigatório Recibo.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OBSERVAÇÃO COORDENADORIA / FISCAL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BAMN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313260018292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40SP-100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CELL BATTERY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2738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Emg concluída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IPLR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03/06/2026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03/06/2026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14/06/2026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2026-06-12 00:00:00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-2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Não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Sim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Volume retirado na loja GOLLOG - QMA por Francisca keltilen em 08/06 - Godoy 10/06/26. item entregue no Recibo 445/FAB/26 - Godoy 12/06/26.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BAMN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313260018322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1H75-21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PRESSURE REGULATOR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2738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Emg concluída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IPLR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09/06/2026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2026-06-12 00:00:00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-9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Não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Sim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Recibo 468/FAB/26 AWB 127-4061 6170 entregue em 12/06/26. Ramon 17/06/26. Emg concluída pelo operador. Ramon 18/06/26.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BAMN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313260018413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MS25182-2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CONNECTOR,PLUG,ELECT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2738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Emg concluída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IPLR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12/06/2026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12/06/2026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23/06/2026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2026-06-29 00:00:00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Não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Sim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AWB 127-4324 3174 entregue em 29/06. Ramon 30/06/26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0000" y="150000"/>
          <a:ext cx="11592000" cy="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50"/>
              </a:tblGrid>
              <a:tr h="125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DIA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ANV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25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2737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0000" y="900000"/>
          <a:ext cx="11591986" cy="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46"/>
                <a:gridCol w="424837"/>
                <a:gridCol w="667602"/>
                <a:gridCol w="546219"/>
                <a:gridCol w="971057"/>
                <a:gridCol w="303455"/>
                <a:gridCol w="364146"/>
                <a:gridCol w="606910"/>
                <a:gridCol w="364146"/>
                <a:gridCol w="546219"/>
                <a:gridCol w="546219"/>
                <a:gridCol w="303455"/>
                <a:gridCol w="303455"/>
                <a:gridCol w="546219"/>
                <a:gridCol w="667602"/>
                <a:gridCol w="606910"/>
                <a:gridCol w="364146"/>
                <a:gridCol w="364146"/>
                <a:gridCol w="364146"/>
                <a:gridCol w="546219"/>
                <a:gridCol w="1820732"/>
              </a:tblGrid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OM_EMG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EMERGÊNCIA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PN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NOMENCLATURA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CAT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MATR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ST_EMG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TPEMG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INFO 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QT_EMG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PRAZO DE ENTREGA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DPE VEE 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Atd/cancelada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DIAS ATRASO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DIAS CORRIDOS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Estoque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Retirado pela empresa? Obrigatório Recibo.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OBSERVAÇÃO COORDENADORIA / FISCAL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BAMN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313260018317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40SP-100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CELL BATTERY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2737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Emg concluída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IPLR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08/06/2026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09/06/2026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2026-06-15 00:00:00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-5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Não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 construção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Emerg. alterada de IPLR para MPCA. Godoy 09/06/26. Emg retornou para IPLR em 10/06. Ramon 11/06/26 Emd cancelada em 15/06, pois a anv ficou disponível.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0000" y="150000"/>
          <a:ext cx="11592000" cy="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50"/>
              </a:tblGrid>
              <a:tr h="125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DIA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ANV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25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2721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0000" y="900000"/>
          <a:ext cx="11591986" cy="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46"/>
                <a:gridCol w="424837"/>
                <a:gridCol w="667602"/>
                <a:gridCol w="546219"/>
                <a:gridCol w="971057"/>
                <a:gridCol w="303455"/>
                <a:gridCol w="364146"/>
                <a:gridCol w="606910"/>
                <a:gridCol w="364146"/>
                <a:gridCol w="546219"/>
                <a:gridCol w="546219"/>
                <a:gridCol w="303455"/>
                <a:gridCol w="303455"/>
                <a:gridCol w="546219"/>
                <a:gridCol w="667602"/>
                <a:gridCol w="606910"/>
                <a:gridCol w="364146"/>
                <a:gridCol w="364146"/>
                <a:gridCol w="364146"/>
                <a:gridCol w="546219"/>
                <a:gridCol w="1820732"/>
              </a:tblGrid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OM_EMG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EMERGÊNCIA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PN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NOMENCLATURA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CAT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MATR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ST_EMG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TPEMG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INFO 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QT_EMG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PRAZO DE ENTREGA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DPE VEE 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Atd/cancelada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DIAS ATRASO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DIAS CORRIDOS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Estoque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Retirado pela empresa? Obrigatório Recibo.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OBSERVAÇÃO COORDENADORIA / FISCAL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329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329260019148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060-0017-00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FLIGHT DIR HOR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2721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Emg concluída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IPLR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08/06/2026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09/06/2026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2026-06-22 00:00:00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Não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 construção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Emergência passou era do 2709 e foi transferida para o 2721 em 11/06. Ramon 12/06/26.  AWB 12742258241 Volume retirado na loja GOLLOG - BSB por Mario Jorge Costa em 22/06/2026 - Godoy 23/06/2026.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0000" y="150000"/>
          <a:ext cx="11592000" cy="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50"/>
              </a:tblGrid>
              <a:tr h="125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DIA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ANV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25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2739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0000" y="900000"/>
          <a:ext cx="11591986" cy="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46"/>
                <a:gridCol w="424837"/>
                <a:gridCol w="667602"/>
                <a:gridCol w="546219"/>
                <a:gridCol w="971057"/>
                <a:gridCol w="303455"/>
                <a:gridCol w="364146"/>
                <a:gridCol w="606910"/>
                <a:gridCol w="364146"/>
                <a:gridCol w="546219"/>
                <a:gridCol w="546219"/>
                <a:gridCol w="303455"/>
                <a:gridCol w="303455"/>
                <a:gridCol w="546219"/>
                <a:gridCol w="667602"/>
                <a:gridCol w="606910"/>
                <a:gridCol w="364146"/>
                <a:gridCol w="364146"/>
                <a:gridCol w="364146"/>
                <a:gridCol w="546219"/>
                <a:gridCol w="1820732"/>
              </a:tblGrid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OM_EMG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EMERGÊNCIA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PN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NOMENCLATURA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CAT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MATR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ST_EMG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TPEMG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INFO 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QT_EMG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PRAZO DE ENTREGA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DPE VEE 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Atd/cancelada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DIAS ATRASO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DIAS CORRIDOS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Estoque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Retirado pela empresa? Obrigatório Recibo.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OBSERVAÇÃO COORDENADORIA / FISCAL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396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BABE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396260016517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3244809-1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FUEL CONTROL,MAIN,TU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2739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Emg concluída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IPLR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22/06/2026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2026-07-01 00:00:00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Não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Sim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Informar o número do Recibo. Godoy 30/06/2026. Item recebido em 26/06 através do termo 020/GLOG-BE/2026, porém foram identificadas discrepância, foi aberto AT para o PAMA-SP para verificar a possibilidade de uso ou não da FCU. No dia 30/06 a emergência foi dada como atendida, porém ainda sem resposta se será necessário atendimento de outra FCU ou não. Ramon 01/07/26. Como foi aberto FCU para verificar a possibilidade de utlizar e a empresa ficou aguardando resposta da Engenharia junto ao operador vou considerar montado da entrega até a resposta da engenharia.Foi enviado a resposta do assessormanto a empresa e considerar desmontada a partir do dia 07/07/26. 1T Wallace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0000" y="150000"/>
          <a:ext cx="11592000" cy="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50"/>
              </a:tblGrid>
              <a:tr h="125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DIA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ANV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25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2723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0000" y="900000"/>
          <a:ext cx="11591986" cy="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46"/>
                <a:gridCol w="424837"/>
                <a:gridCol w="667602"/>
                <a:gridCol w="546219"/>
                <a:gridCol w="971057"/>
                <a:gridCol w="303455"/>
                <a:gridCol w="364146"/>
                <a:gridCol w="606910"/>
                <a:gridCol w="364146"/>
                <a:gridCol w="546219"/>
                <a:gridCol w="546219"/>
                <a:gridCol w="303455"/>
                <a:gridCol w="303455"/>
                <a:gridCol w="546219"/>
                <a:gridCol w="667602"/>
                <a:gridCol w="606910"/>
                <a:gridCol w="364146"/>
                <a:gridCol w="364146"/>
                <a:gridCol w="364146"/>
                <a:gridCol w="546219"/>
                <a:gridCol w="1820732"/>
              </a:tblGrid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OM_EMG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EMERGÊNCIA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PN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NOMENCLATURA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CAT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MATR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ST_EMG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TPEMG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INFO 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QT_EMG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PRAZO DE ENTREGA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DPE VEE 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Atd/cancelada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DIAS ATRASO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DIAS CORRIDOS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Estoque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Retirado pela empresa? Obrigatório Recibo.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OBSERVAÇÃO COORDENADORIA / FISCAL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419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CLA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419260000555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3244897-4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FUEL CONTROL UNIT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2723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Emg concluída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IPLR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22/06/2026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23/06/2026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04/07/2026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2026-07-02 00:00:00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-2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Não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Não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Recibo 532/FAB/26 assinado em 02/07. Ramon 06/07/26.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0000" y="150000"/>
          <a:ext cx="11592000" cy="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50"/>
              </a:tblGrid>
              <a:tr h="125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DIA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ANV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25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2719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0000" y="900000"/>
          <a:ext cx="11591986" cy="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46"/>
                <a:gridCol w="424837"/>
                <a:gridCol w="667602"/>
                <a:gridCol w="546219"/>
                <a:gridCol w="971057"/>
                <a:gridCol w="303455"/>
                <a:gridCol w="364146"/>
                <a:gridCol w="606910"/>
                <a:gridCol w="364146"/>
                <a:gridCol w="546219"/>
                <a:gridCol w="546219"/>
                <a:gridCol w="303455"/>
                <a:gridCol w="303455"/>
                <a:gridCol w="546219"/>
                <a:gridCol w="667602"/>
                <a:gridCol w="606910"/>
                <a:gridCol w="364146"/>
                <a:gridCol w="364146"/>
                <a:gridCol w="364146"/>
                <a:gridCol w="546219"/>
                <a:gridCol w="1820732"/>
              </a:tblGrid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OM_EMG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EMERGÊNCIA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PN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NOMENCLATURA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CAT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MATR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ST_EMG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TPEMG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INFO 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QT_EMG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PRAZO DE ENTREGA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DPE VEE 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Atd/cancelada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DIAS ATRASO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DIAS CORRIDOS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Estoque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Retirado pela empresa? Obrigatório Recibo.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OBSERVAÇÃO COORDENADORIA / FISCAL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685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BANT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685260012256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B100-06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COUPLING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2719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Emg concluída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IPLR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25/06/2026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25/06/2026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06/07/2026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2026-07-01 00:00:00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-5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Não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Sim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Emergencia atendida conforme recibo 514/FAB/26. Godoy 01/07/2026.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0000" y="150000"/>
          <a:ext cx="11592000" cy="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35"/>
                <a:gridCol w="373950"/>
              </a:tblGrid>
              <a:tr h="125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DIA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ANV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21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22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23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24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25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Q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26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27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28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29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30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25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02020"/>
                          </a:solidFill>
                        </a:rPr>
                        <a:t>2729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0000" y="900000"/>
          <a:ext cx="11591986" cy="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46"/>
                <a:gridCol w="424837"/>
                <a:gridCol w="667602"/>
                <a:gridCol w="546219"/>
                <a:gridCol w="971057"/>
                <a:gridCol w="303455"/>
                <a:gridCol w="364146"/>
                <a:gridCol w="606910"/>
                <a:gridCol w="364146"/>
                <a:gridCol w="546219"/>
                <a:gridCol w="546219"/>
                <a:gridCol w="303455"/>
                <a:gridCol w="303455"/>
                <a:gridCol w="546219"/>
                <a:gridCol w="667602"/>
                <a:gridCol w="606910"/>
                <a:gridCol w="364146"/>
                <a:gridCol w="364146"/>
                <a:gridCol w="364146"/>
                <a:gridCol w="546219"/>
                <a:gridCol w="1820732"/>
              </a:tblGrid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OM_EMG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EMERGÊNCIA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PN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NOMENCLATURA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CAT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MATR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ST_EMG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TPEMG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INFO 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QT_EMG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PRAZO DE ENTREGA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DPE VEE 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Atd/cancelada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DIAS ATRASO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DIAS CORRIDOS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Estoque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Retirado pela empresa? Obrigatório Recibo.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02020"/>
                          </a:solidFill>
                        </a:rPr>
                        <a:t>OBSERVAÇÃO COORDENADORIA / FISCAL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685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BANT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685260012257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B100-06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COUPLING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2729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Emg concluída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IPLR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25/06/2026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25/06/2026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06/07/2026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2026-07-01 00:00:00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-5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Não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Sim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>
                          <a:solidFill>
                            <a:srgbClr val="202020"/>
                          </a:solidFill>
                        </a:rPr>
                        <a:t>Emergencia atendida conforme recibo 514/FAB/26. Godoy 01/07/2026.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000" y="150000"/>
            <a:ext cx="11512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020"/>
                </a:solidFill>
              </a:rPr>
              <a:t>Empréstimos — Estatísticas (Junho)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0000" y="650000"/>
            <a:ext cx="11512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6A00"/>
                </a:solidFill>
              </a:rPr>
              <a:t>48 itens (linhas)  ·  294 de quantidade  ·  48 pendentes  ·  0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990000"/>
            <a:ext cx="379733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02020"/>
                </a:solidFill>
              </a:rPr>
              <a:t>Status (por quantidade)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00000" y="1310000"/>
          <a:ext cx="3797333" cy="32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97333" y="990000"/>
            <a:ext cx="379733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02020"/>
                </a:solidFill>
              </a:rPr>
              <a:t>Por categoria (C/T/R) — quantidade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97333" y="1310000"/>
          <a:ext cx="3797333" cy="32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94666" y="990000"/>
            <a:ext cx="379733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02020"/>
                </a:solidFill>
              </a:rPr>
              <a:t>Top destinos — quantidade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194666" y="1310000"/>
          <a:ext cx="3797333" cy="32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000" y="150000"/>
            <a:ext cx="11512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020"/>
                </a:solidFill>
              </a:rPr>
              <a:t>Empréstimo em Junho (pág. 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0000" y="610000"/>
          <a:ext cx="11891989" cy="5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947"/>
                <a:gridCol w="563305"/>
                <a:gridCol w="1001431"/>
                <a:gridCol w="438126"/>
                <a:gridCol w="250357"/>
                <a:gridCol w="375536"/>
                <a:gridCol w="563305"/>
                <a:gridCol w="1126610"/>
                <a:gridCol w="312947"/>
                <a:gridCol w="500715"/>
                <a:gridCol w="312947"/>
                <a:gridCol w="438126"/>
                <a:gridCol w="438126"/>
                <a:gridCol w="438126"/>
                <a:gridCol w="500715"/>
                <a:gridCol w="813663"/>
                <a:gridCol w="375536"/>
                <a:gridCol w="563305"/>
                <a:gridCol w="500715"/>
                <a:gridCol w="876252"/>
                <a:gridCol w="876252"/>
                <a:gridCol w="312947"/>
              </a:tblGrid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Nº ORDEM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PN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DESCRIÇÃO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SN/LT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CAT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QTD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PEDIDO/EMG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MOTIVO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PJ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PEDIDO DE ENVIO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ANV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DESTINO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NF/GMM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RASTREIO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PN DEVOLVIDO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STATUS (ENTREGA)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Nº RC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NF DEVOLUÇÃO VEE 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DATA DEVOLUÇÃO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OBS. FISCAL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OBS. EMPRESA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264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S3326-2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INDICATOR,HORIZONTAL SITUATION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T107384P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396260016501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Atendimento de emergência solicitado pelo SO Cláudio.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2731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265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S2502-3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CONNECTOR,ELECTRICAL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02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396260016502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Atendimento de emergência solicitado pelo SO Cláudio.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2731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266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P860037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SEAL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02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396260016500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Atendimento de emergência solicitado pelo SO Cláudio.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2733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267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AE3663231B0160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HOSE AY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03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17624839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demadna da BAMN, todas as mangueiras deterioadas.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2736 / 2738 / 2741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BAMN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268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8210-002-01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GOVERNADOR DE HÉLICE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1716049AC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17600735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2721 durante inspeção e aproveitamento de missão CAN.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269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DCN4-3807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ANEL DE VEDAÇÃO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02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17588026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2721 durante inspeção e aproveitamento de missão CAN.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MS28773-05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RETAINER,PACKING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02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17588299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2721 durante inspeção e aproveitamento de missão CAN.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1215073-28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HEADREST ASSEMBLY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02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17498790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2721 durante inspeção e aproveitamento de missão CAN.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9910573-21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PARTITION ASSY-CARGO AFT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17433696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2721 durante inspeção e aproveitamento de missão CAN.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3121248-03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VALVE ASSEMBLY,COMPRESSOR BLEED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22A805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17588337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2721 durante inspeção e aproveitamento de missão CAN.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5040033933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GYRO HORIZON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25109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17601235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R581559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SEAL,DOOR EMERGENCY EXIT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04 FT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17459952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S3413-104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STUD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10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17601337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S3413-105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STUD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10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17601448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S3413-107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STUD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10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17601489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S3413-109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STUD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05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17601565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280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S3413-110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STUD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10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17601700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281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S2319-64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GROMMET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50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17601696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282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S2319-50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RECEPTACLE,TURNLOCK FASTENER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50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17602036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283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B4864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SUPPORT SPINNER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17603271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B4940-1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SHIM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17603023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285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B4940-2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SHIM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10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17603189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286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2654012-2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CLAMP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17603009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287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5111602-16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GROMMET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67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396260016504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2731 durante inspeção com troca de para-brisa.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2731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288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2641032-202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FAIRING AY RH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313260018291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emergência por solicitação do SO Rezende. PN da emg 2641030-2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03/06/2026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2741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BAMN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289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850C86-2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PNEU PRINCIPAL 8.50-10 08PR TT FCIII MLG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02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17613579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290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302-120-402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INNER TUBE,PNEUMATIC TIRE,AIRCRAFT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17613601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 durante inspeção.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291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MS28778-3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ANEL-O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06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17680394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2736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2736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BAMN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292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AE3663161E0113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HOSE ASSY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17695916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2736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12/06/2026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2736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BAMN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293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1414116-7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SPRING,HELICAL,EXTE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04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17739766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2739 durante inspeção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2739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294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S1985-1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SWITCH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17741001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2708 durante inspeção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295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2270030-12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CABLE ASSEMBLY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17741040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2708 durante inspeção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296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066-4010-12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RECEIVER VOR/LOC (KNS81)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8320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17741660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2708 durante inspeção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297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3034792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BOMBA DE COMBUSTÍVEL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004106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17743998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2742 para solução de pane no sistema de combustível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DACTA II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298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3024973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COUPLING,PUMP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17743997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2742 para solução de pane no sistema de combustível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DACTA II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299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M83461/1-012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ANEL-O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17744000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2742 para solução de pane no sistema de combustível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T1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DACTA II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3039937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GASKET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17743999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2742 para solução de pane no sistema de combustível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DACTA II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3014227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ANEL-O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17743996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2742 para solução de pane no sistema de combustível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DACTA II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C668050-1108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TRANSMITTER FUEL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17800378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2723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2723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2522275-1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PLATE-INSULAT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02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17800557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2723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2723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S2870-1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SWITCH,SPEC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02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17800394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2723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2723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NSL 1422 B2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SEALING COMPOUND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06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17800330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2723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2723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AN320-3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NUT,PLAIN,SLOTTED,HEXAGON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04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17823231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2613419-1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BARREL FLAP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01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17823328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000" y="150000"/>
            <a:ext cx="11512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020"/>
                </a:solidFill>
              </a:rPr>
              <a:t>Empréstimo em Junho (pág. 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0000" y="610000"/>
          <a:ext cx="11891989" cy="5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947"/>
                <a:gridCol w="563305"/>
                <a:gridCol w="1001431"/>
                <a:gridCol w="438126"/>
                <a:gridCol w="250357"/>
                <a:gridCol w="375536"/>
                <a:gridCol w="563305"/>
                <a:gridCol w="1126610"/>
                <a:gridCol w="312947"/>
                <a:gridCol w="500715"/>
                <a:gridCol w="312947"/>
                <a:gridCol w="438126"/>
                <a:gridCol w="438126"/>
                <a:gridCol w="438126"/>
                <a:gridCol w="500715"/>
                <a:gridCol w="813663"/>
                <a:gridCol w="375536"/>
                <a:gridCol w="563305"/>
                <a:gridCol w="500715"/>
                <a:gridCol w="876252"/>
                <a:gridCol w="876252"/>
                <a:gridCol w="312947"/>
              </a:tblGrid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Nº ORDEM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PN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DESCRIÇÃO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SN/LT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CAT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QTD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PEDIDO/EMG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MOTIVO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PJ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PEDIDO DE ENVIO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ANV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DESTINO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NF/GMM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RASTREIO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PN DEVOLVIDO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STATUS (ENTREGA)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Nº RC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NF DEVOLUÇÃO VEE 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DATA DEVOLUÇÃO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OBS. FISCAL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OBS. EMPRESA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1">
                          <a:solidFill>
                            <a:srgbClr val="202020"/>
                          </a:solidFill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AN565B428H4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SETSCREW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02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17823233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2662007-4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STUD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02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17823234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2662022-1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TUBE ASSY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02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17823235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115000"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311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AN315-3L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NUT,PLAIN,HEXAGON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02 EA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17823601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Atender demanda do 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U8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30/06/2026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BABR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00" b="0">
                          <a:solidFill>
                            <a:srgbClr val="202020"/>
                          </a:solidFill>
                        </a:rPr>
                        <a:t>Pendente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000" y="150000"/>
            <a:ext cx="11512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020"/>
                </a:solidFill>
              </a:rPr>
              <a:t>Empréstimos — Estatística Total (todos os meses)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0000" y="650000"/>
            <a:ext cx="11512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6A00"/>
                </a:solidFill>
              </a:rPr>
              <a:t>322 itens (linhas)  ·  1.005 de quantidade  ·  296 pendentes  ·  26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990000"/>
            <a:ext cx="379733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02020"/>
                </a:solidFill>
              </a:rPr>
              <a:t>Status (por quantidade)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00000" y="1310000"/>
          <a:ext cx="3797333" cy="32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97333" y="990000"/>
            <a:ext cx="379733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02020"/>
                </a:solidFill>
              </a:rPr>
              <a:t>Por categoria (C/T/R) — quantidade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97333" y="1310000"/>
          <a:ext cx="3797333" cy="32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94666" y="990000"/>
            <a:ext cx="379733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02020"/>
                </a:solidFill>
              </a:rPr>
              <a:t>Top destinos — quantidade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194666" y="1310000"/>
          <a:ext cx="3797333" cy="32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000" y="150000"/>
            <a:ext cx="11512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020"/>
                </a:solidFill>
              </a:rPr>
              <a:t>Reparáveis — Estatísticas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0000" y="650000"/>
            <a:ext cx="11512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6A00"/>
                </a:solidFill>
              </a:rPr>
              <a:t>324 em aberto  ·  101 com a empresa (VEE ONE)  ·  97 nas terceirizadas  ·  126 nas bases FAB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00" y="990000"/>
            <a:ext cx="5646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02020"/>
                </a:solidFill>
              </a:rPr>
              <a:t>Onde se encontra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00000" y="1310000"/>
          <a:ext cx="5646000" cy="4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46000" y="990000"/>
            <a:ext cx="5646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02020"/>
                </a:solidFill>
              </a:rPr>
              <a:t>Distribuição por condição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46000" y="1310000"/>
          <a:ext cx="5646000" cy="47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000" y="150000"/>
            <a:ext cx="11512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020"/>
                </a:solidFill>
              </a:rPr>
              <a:t>Atrasos — Situação Atual (em aberto agora)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0000" y="650000"/>
            <a:ext cx="11512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6A00"/>
                </a:solidFill>
              </a:rPr>
              <a:t>15 em aberto (VEE ONE)  ·  9 dentro do prazo  ·  6 atrasadas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0000" y="990000"/>
          <a:ext cx="11591996" cy="4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8482"/>
                <a:gridCol w="1399034"/>
                <a:gridCol w="1199172"/>
                <a:gridCol w="1998620"/>
                <a:gridCol w="1598896"/>
                <a:gridCol w="1598896"/>
                <a:gridCol w="1598896"/>
              </a:tblGrid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</a:rPr>
                        <a:t>EMERGÊNCIA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</a:rPr>
                        <a:t>AERONAVE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</a:rPr>
                        <a:t>TIPO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</a:rPr>
                        <a:t>SITUAÇÃO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</a:rPr>
                        <a:t>ABERTURA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</a:rPr>
                        <a:t>PRAZO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</a:rPr>
                        <a:t>DIAS DE ATRASO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313260017747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2730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Providência tomada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23/02/2026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30/03/2026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396260016520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AIFP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Providência tomada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12/06/2026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313260018412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2734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IPLR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Providência tomada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23/06/2026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329260019179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AIFP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Providência tomada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02/07/2026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10/07/2026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313260018646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2734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IPLR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Providência tomada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26/06/2026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11/07/2026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329260019153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Providência tomada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12/06/2026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13/07/2026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329260019180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AIFP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Providência tomada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06/07/2026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14/07/2026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329260019181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AIFP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Providência tomada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06/07/2026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14/07/2026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419260000556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2723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AIFP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Providência tomada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07/07/2026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15/07/2026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-1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396260016566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AIFP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Providência tomada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09/07/2026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16/07/2026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-2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419260000557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2723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AIFP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Providência tomada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08/07/2026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16/07/2026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-2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396260016563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2733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IPLR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Providência tomada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08/07/2026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19/07/2026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-5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313260018670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2734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IPLR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Aguardando solução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10/07/2026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21/07/2026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-7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685260012303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2719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Providência tomada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07/07/2026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07/08/2026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-24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685260012350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2702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Providência tomada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09/07/2026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09/08/2026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-26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000" y="150000"/>
            <a:ext cx="11512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020"/>
                </a:solidFill>
              </a:rPr>
              <a:t>Atrasos — Entregas no Mês de Referência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0000" y="680000"/>
          <a:ext cx="11592000" cy="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000"/>
                <a:gridCol w="2898000"/>
                <a:gridCol w="2898000"/>
                <a:gridCol w="2898000"/>
              </a:tblGrid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</a:rPr>
                        <a:t>Período de apuração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</a:rPr>
                        <a:t>Total de entregas previstas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</a:rPr>
                        <a:t>Entregas no Prazo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</a:rPr>
                        <a:t>QTD Mensal (%)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01/06 - 30/06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39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29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</a:rPr>
                        <a:t>74,36%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00000" y="1130000"/>
            <a:ext cx="32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02020"/>
                </a:solidFill>
              </a:rPr>
              <a:t>Situação das entregas do mês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00000" y="1450000"/>
          <a:ext cx="3200000" cy="22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0" y="1130000"/>
          <a:ext cx="4991994" cy="2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999"/>
                <a:gridCol w="529454"/>
                <a:gridCol w="453818"/>
                <a:gridCol w="605090"/>
                <a:gridCol w="605090"/>
                <a:gridCol w="756363"/>
                <a:gridCol w="605090"/>
                <a:gridCol w="605090"/>
              </a:tblGrid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EMERGÊNCIA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AERONAVE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TIPO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ABERTURA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PRAZO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CANCELAMENTO/CONCLUSÃO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DIAS DE ATRASO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</a:rPr>
                        <a:t>SITUAÇÃO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313260018157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2732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24/03/2026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25/04/2026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18/06/2026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54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Atrasado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313260018247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2741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28/04/2026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30/05/2026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02/06/2026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Atrasado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313260018248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2741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28/04/2026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30/05/2026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02/06/2026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Atrasado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329260019106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2721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08/05/2026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03/06/2026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-8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No prazo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396260016392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2731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12/05/2026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13/06/2026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12/06/2026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-1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No prazo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396260016397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2733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13/05/2026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14/06/2026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Atrasado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329260019115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2721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18/05/2026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19/06/2026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08/06/2026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-11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No prazo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313260018269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2732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IPLR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21/05/2026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01/06/2026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25/06/2026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Atrasado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313260018281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2736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26/05/2026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26/06/2026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20/06/2026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-6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No prazo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384260009381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2742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25/05/2026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26/06/2026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25/06/2026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-1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</a:rPr>
                        <a:t>No prazo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</a:lnR>
                    <a:lnT w="6350" cap="flat" cmpd="sng" algn="ctr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2025-08-19T13:24:21Z</dcterms:created>
  <dc:creator>Cássia Alves de Lima</dc:creator>
</cp:coreProperties>
</file>