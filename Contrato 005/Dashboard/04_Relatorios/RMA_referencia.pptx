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/jMPkFtsKMbiIPFj/9Hn4Q0aX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E20384-2E9D-48F9-A33C-84B13EF97D0C}">
  <a:tblStyle styleId="{F7E20384-2E9D-48F9-A33C-84B13EF97D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1f53ed38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f1f53ed38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1c91fa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b01c91fa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b01c91fa5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269ed38f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3269ed38f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f3269ed38f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269ed38f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f3269ed38f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f3269ed38f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3269ed38f_1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3269ed38f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f3269ed38f_1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269ed38f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3269ed38f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f3269ed38f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3269ed38f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3269ed38f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f3269ed38f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5e784ee47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95e784ee47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95e784ee47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999c345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3999c345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f3999c3459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1f80fe6f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1f80fe6f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f1f80fe6f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6eec296a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c6eec296a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c6eec296aa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0843aab78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0843aab78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e0843aab78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0843aab78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e0843aab78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e0843aab78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999c3459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3999c3459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f3999c3459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3999c345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3999c345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f3999c345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3999c3459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3999c3459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f3999c3459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b2fd9cce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8b2fd9cce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451381"/>
            <a:ext cx="10512600" cy="40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pt-BR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RMA </a:t>
            </a:r>
            <a:r>
              <a:rPr lang="pt-BR" sz="6600"/>
              <a:t>JUNHO</a:t>
            </a:r>
            <a:endParaRPr sz="6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t/>
            </a:r>
            <a:endParaRPr sz="6600"/>
          </a:p>
        </p:txBody>
      </p:sp>
      <p:sp>
        <p:nvSpPr>
          <p:cNvPr id="89" name="Google Shape;89;p1"/>
          <p:cNvSpPr txBox="1"/>
          <p:nvPr/>
        </p:nvSpPr>
        <p:spPr>
          <a:xfrm>
            <a:off x="838199" y="4983276"/>
            <a:ext cx="105126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Contrato 005/CELOG -PAMALS/2025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451381"/>
            <a:ext cx="10512552" cy="4066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pt-BR" sz="6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Objetivo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199" y="4983276"/>
            <a:ext cx="10512552" cy="112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Apresentar a média mensal de aeronave montada  do contrato 005/CELOG -PAMALS/2025 de </a:t>
            </a:r>
            <a:r>
              <a:rPr lang="pt-BR" sz="2400"/>
              <a:t>junho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f1f53ed38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575" y="69475"/>
            <a:ext cx="742543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g3b01c91fa55_0_0"/>
          <p:cNvGraphicFramePr/>
          <p:nvPr/>
        </p:nvGraphicFramePr>
        <p:xfrm>
          <a:off x="834175" y="227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408925"/>
                <a:gridCol w="257150"/>
                <a:gridCol w="509075"/>
                <a:gridCol w="575825"/>
                <a:gridCol w="701000"/>
                <a:gridCol w="257150"/>
                <a:gridCol w="300425"/>
                <a:gridCol w="450650"/>
                <a:gridCol w="325475"/>
                <a:gridCol w="383875"/>
                <a:gridCol w="383875"/>
                <a:gridCol w="367200"/>
                <a:gridCol w="257150"/>
                <a:gridCol w="425600"/>
                <a:gridCol w="433950"/>
                <a:gridCol w="433950"/>
                <a:gridCol w="350500"/>
                <a:gridCol w="442300"/>
                <a:gridCol w="350500"/>
                <a:gridCol w="550800"/>
                <a:gridCol w="2637125"/>
              </a:tblGrid>
              <a:tr h="149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EMERGÊNCIA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PN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NOMENCLATURA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CAT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MATR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ST_EMG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TPEMG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INFO 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QT_EMG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PRAZO DE ENTREGA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DPE VEE ONE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Atd/cancelada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ATRASO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CORRIDOS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Estoque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Retirado pela empresa? Obrigatório Recibo.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OBSERVAÇÃO COORDENADORIA / FISCAL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BABR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329260019125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3244897-4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FUEL CONTROL UNIT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2721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AIFP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27/05/2026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28/05/2026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04/06/2026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01/06/2026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-3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4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 construção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AWB 127-3854 4763 entregue em 01/06/26. Ramon 01/06/26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329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BABR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329260019148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060-0017-00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FLIGHT DIR HOR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R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2721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Emg concluída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IPLR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08/06/2026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09/06/2026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1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EA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20/06/2026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22/06/2026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2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13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Não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Em construção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rgbClr val="FFFF00"/>
                          </a:highlight>
                        </a:rPr>
                        <a:t>Emergência passou era do 2709 e foi transferida para o 2721 em 11/06. Ramon 12/06/26. AWB 12742258241 Volume retirado na loja GOLLOG - BSB por Mario Jorge Costa em 22/06/2026 - Godoy 23/06/2026.</a:t>
                      </a:r>
                      <a:endParaRPr sz="800">
                        <a:highlight>
                          <a:srgbClr val="FFFF00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BABR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329260019158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3034792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BOMBA DE COMBUSTÍVEL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2721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AIFP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17/06/2026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18/06/2026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25/06/2026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19/06/2026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-6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 construção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Quantidade que consta no estoque do PAMA já está reservado. Ramon 18/06/26. AWB 127-4221 5272 entregue em 19/06/26. Ramon 19/06/26.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BABR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329260019179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066-3046-07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CONTROL,INDICATOR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2721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Providência tom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AIFP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02/07/2026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03/07/2026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10/07/2026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-4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" name="Google Shape;107;g3b01c91fa55_0_0"/>
          <p:cNvGraphicFramePr/>
          <p:nvPr/>
        </p:nvGraphicFramePr>
        <p:xfrm>
          <a:off x="152400" y="35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83310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  <a:gridCol w="365050"/>
              </a:tblGrid>
              <a:tr h="2909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DIA</a:t>
                      </a:r>
                      <a:endParaRPr b="1"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ANV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2709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g3f3269ed38f_1_4"/>
          <p:cNvGraphicFramePr/>
          <p:nvPr/>
        </p:nvGraphicFramePr>
        <p:xfrm>
          <a:off x="834175" y="227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408925"/>
                <a:gridCol w="257150"/>
                <a:gridCol w="509075"/>
                <a:gridCol w="575825"/>
                <a:gridCol w="701000"/>
                <a:gridCol w="257150"/>
                <a:gridCol w="300425"/>
                <a:gridCol w="450650"/>
                <a:gridCol w="325475"/>
                <a:gridCol w="383875"/>
                <a:gridCol w="383875"/>
                <a:gridCol w="367200"/>
                <a:gridCol w="257150"/>
                <a:gridCol w="425600"/>
                <a:gridCol w="433950"/>
                <a:gridCol w="433950"/>
                <a:gridCol w="350500"/>
                <a:gridCol w="442300"/>
                <a:gridCol w="350500"/>
                <a:gridCol w="550800"/>
                <a:gridCol w="2637125"/>
              </a:tblGrid>
              <a:tr h="149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EMERGÊNCIA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PN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NOMENCLATURA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CAT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MATR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ST_EMG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TPEMG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INFO 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QT_EMG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PRAZO DE ENTREGA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DPE VEE ONE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Atd/cancelada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ATRASO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CORRIDOS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Estoque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Retirado pela empresa? Obrigatório Recibo.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OBSERVAÇÃO COORDENADORIA / FISCAL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BABR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329260019125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3244897-4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FUEL CONTROL UNIT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2721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AIFP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27/05/2026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28/05/2026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04/06/2026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01/06/2026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-3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4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 construção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AWB 127-3854 4763 entregue em 01/06/26. Ramon 01/06/26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329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BABR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329260019148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060-0017-00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FLIGHT DIR HOR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R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2721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Emg concluída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IPLR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08/06/2026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09/06/2026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1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EA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20/06/2026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22/06/2026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2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13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Não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Em construção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>
                          <a:highlight>
                            <a:schemeClr val="lt1"/>
                          </a:highlight>
                        </a:rPr>
                        <a:t>Emergência passou era do 2709 e foi transferida para o 2721 em 11/06. Ramon 12/06/26. AWB 12742258241 Volume retirado na loja GOLLOG - BSB por Mario Jorge Costa em 22/06/2026 - Godoy 23/06/2026.</a:t>
                      </a:r>
                      <a:endParaRPr sz="800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BABR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329260019158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3034792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BOMBA DE COMBUSTÍVEL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2721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AIFP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17/06/2026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18/06/2026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25/06/2026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19/06/2026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-6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 construção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Quantidade que consta no estoque do PAMA já está reservado. Ramon 18/06/26. AWB 127-4221 5272 entregue em 19/06/26. Ramon 19/06/26.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" name="Google Shape;114;g3f3269ed38f_1_4"/>
          <p:cNvGraphicFramePr/>
          <p:nvPr/>
        </p:nvGraphicFramePr>
        <p:xfrm>
          <a:off x="152400" y="2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84772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</a:tblGrid>
              <a:tr h="2381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DIA</a:t>
                      </a:r>
                      <a:endParaRPr b="1"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ANV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2721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g3f3269ed38f_1_2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84772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  <a:gridCol w="371475"/>
              </a:tblGrid>
              <a:tr h="2381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DIA</a:t>
                      </a:r>
                      <a:endParaRPr b="1"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ANV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2723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" name="Google Shape;121;g3f3269ed38f_1_22"/>
          <p:cNvGraphicFramePr/>
          <p:nvPr/>
        </p:nvGraphicFramePr>
        <p:xfrm>
          <a:off x="122100" y="269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444750"/>
                <a:gridCol w="266225"/>
                <a:gridCol w="553700"/>
                <a:gridCol w="626300"/>
                <a:gridCol w="762450"/>
                <a:gridCol w="266225"/>
                <a:gridCol w="326750"/>
                <a:gridCol w="490150"/>
                <a:gridCol w="353975"/>
                <a:gridCol w="417525"/>
                <a:gridCol w="417525"/>
                <a:gridCol w="399375"/>
                <a:gridCol w="266225"/>
                <a:gridCol w="462925"/>
                <a:gridCol w="471975"/>
                <a:gridCol w="471975"/>
                <a:gridCol w="381225"/>
                <a:gridCol w="481075"/>
                <a:gridCol w="381225"/>
                <a:gridCol w="599050"/>
                <a:gridCol w="2868250"/>
              </a:tblGrid>
              <a:tr h="209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EMERGÊNCIA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PN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NOMENCLATURA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CAT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MATR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ST_EMG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TPEMG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INFO 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QT_EMG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PRAZO DE ENTREGA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DPE VEE ONE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Atd/cancelada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ATRASO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CORRIDOS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Estoque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Retirado pela empresa? Obrigatório Recibo.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OBSERVAÇÃO COORDENADORIA / FISCAL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74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419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419260000554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3034792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BOMBA DE COMBUSTÍVEL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2723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Emg concluída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IPLR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22/06/2026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23/06/2026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04/07/2026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30/06/2026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Não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Em construção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AWB 12743087085 Volume retirado na loja GOLLOG - BEL por Marlon em 24/06/2026. Godoy 25/06/2026. Recibo 502/FAB/26 assinado em 24/06. Ramon 30/06/26.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419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CLA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419260000555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3244897-4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FUEL CONTROL UNIT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2723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Emg concluída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IPLR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22/06/2026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23/06/2026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04/07/2026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02/07/2026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Não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Não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Recibo 532/FAB/26 assinado em 02/07. Ramon 06/07/26.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g3f3269ed38f_1_38"/>
          <p:cNvGraphicFramePr/>
          <p:nvPr/>
        </p:nvGraphicFramePr>
        <p:xfrm>
          <a:off x="152400" y="349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450675"/>
                <a:gridCol w="257525"/>
                <a:gridCol w="561050"/>
                <a:gridCol w="634625"/>
                <a:gridCol w="772600"/>
                <a:gridCol w="257150"/>
                <a:gridCol w="331100"/>
                <a:gridCol w="496675"/>
                <a:gridCol w="358700"/>
                <a:gridCol w="423075"/>
                <a:gridCol w="423075"/>
                <a:gridCol w="404700"/>
                <a:gridCol w="257150"/>
                <a:gridCol w="469075"/>
                <a:gridCol w="478275"/>
                <a:gridCol w="478275"/>
                <a:gridCol w="386300"/>
                <a:gridCol w="487475"/>
                <a:gridCol w="386300"/>
                <a:gridCol w="607050"/>
                <a:gridCol w="2906425"/>
              </a:tblGrid>
              <a:tr h="64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EMERGÊNCIA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PN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NOMENCLATURA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CAT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MATR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ST_EMG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TPEMG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INFO 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QT_EMG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PRAZO DE ENTREGA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DPE VEE ONE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Atd/cancelada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ATRASO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CORRIDOS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Estoque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Retirado pela empresa? Obrigatório Recibo.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OBSERVAÇÃO COORDENADORIA / FISCAL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1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685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BANT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685260012257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B100-06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COUPLING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2729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Emg concluída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IPLR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25/06/2026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25/06/2026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EA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06/07/2026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01/07/2026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-5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Não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Sim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Emergencia atendida conforme recibo 514/FAB/26. Godoy 01/07/2026.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" name="Google Shape;128;g3f3269ed38f_1_38"/>
          <p:cNvGraphicFramePr/>
          <p:nvPr/>
        </p:nvGraphicFramePr>
        <p:xfrm>
          <a:off x="152400" y="35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8360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  <a:gridCol w="366375"/>
              </a:tblGrid>
              <a:tr h="2909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DIA</a:t>
                      </a:r>
                      <a:endParaRPr b="1"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ANV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2729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g3f3269ed38f_1_44"/>
          <p:cNvGraphicFramePr/>
          <p:nvPr/>
        </p:nvGraphicFramePr>
        <p:xfrm>
          <a:off x="152400" y="193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457250"/>
                <a:gridCol w="261275"/>
                <a:gridCol w="569225"/>
                <a:gridCol w="643875"/>
                <a:gridCol w="783850"/>
                <a:gridCol w="257150"/>
                <a:gridCol w="335950"/>
                <a:gridCol w="503900"/>
                <a:gridCol w="363925"/>
                <a:gridCol w="429250"/>
                <a:gridCol w="429250"/>
                <a:gridCol w="410600"/>
                <a:gridCol w="257150"/>
                <a:gridCol w="475925"/>
                <a:gridCol w="485250"/>
                <a:gridCol w="485250"/>
                <a:gridCol w="391925"/>
                <a:gridCol w="494575"/>
                <a:gridCol w="391925"/>
                <a:gridCol w="615900"/>
                <a:gridCol w="2948800"/>
              </a:tblGrid>
              <a:tr h="763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EMERGÊNCIA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PN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NOMENCLATURA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CAT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MATR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ST_EMG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TPEMG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INFO 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QT_EMG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PRAZO DE ENTREGA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DPE VEE ONE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Atd/cancelada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ATRASO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CORRIDOS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Estoque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Retirado pela empresa? Obrigatório Recibo.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OBSERVAÇÃO COORDENADORIA / FISCAL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97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313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BAMN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313260018292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40SP-100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CELL BATTERY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C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2738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IPLR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03/06/2026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03/06/2026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14/06/2026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12/06/2026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-2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Sim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Volume retirado na loja GOLLOG - QMA por Francisca keltilen em 08/06 - Godoy 10/06/26. item entregue no Recibo 445/FAB/26 - Godoy 12/06/26.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313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BAMN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313260018322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1H75-21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PRESSURE REGULATOR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T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2738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IPLR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09/06/2026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10/06/2026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21/06/2026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12/06/2026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-9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Sim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Recibo 468/FAB/26 AWB 127-4061 6170 entregue em 12/06/26. Ramon 17/06/26. Emg concluída pelo operador. Ramon 18/06/26.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313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BAMN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313260018413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MS25182-2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CONNECTOR,PLUG,ELECT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C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2738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IPLR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12/06/2026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12/06/2026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23/06/2026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29/06/2026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17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Sim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AWB 127-4324 3174 entregue em 29/06. Ramon 30/06/26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" name="Google Shape;135;g3f3269ed38f_1_44"/>
          <p:cNvGraphicFramePr/>
          <p:nvPr/>
        </p:nvGraphicFramePr>
        <p:xfrm>
          <a:off x="152400" y="24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841650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  <a:gridCol w="368825"/>
              </a:tblGrid>
              <a:tr h="3249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DIA</a:t>
                      </a:r>
                      <a:endParaRPr b="1"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ANV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2738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g3f3269ed38f_1_58"/>
          <p:cNvGraphicFramePr/>
          <p:nvPr/>
        </p:nvGraphicFramePr>
        <p:xfrm>
          <a:off x="182700" y="33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456475"/>
                <a:gridCol w="260850"/>
                <a:gridCol w="568275"/>
                <a:gridCol w="642800"/>
                <a:gridCol w="782525"/>
                <a:gridCol w="257150"/>
                <a:gridCol w="335375"/>
                <a:gridCol w="503050"/>
                <a:gridCol w="363325"/>
                <a:gridCol w="428525"/>
                <a:gridCol w="428525"/>
                <a:gridCol w="409900"/>
                <a:gridCol w="257150"/>
                <a:gridCol w="475100"/>
                <a:gridCol w="484425"/>
                <a:gridCol w="484425"/>
                <a:gridCol w="391275"/>
                <a:gridCol w="493750"/>
                <a:gridCol w="391275"/>
                <a:gridCol w="614850"/>
                <a:gridCol w="2943825"/>
              </a:tblGrid>
              <a:tr h="729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OM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EMERGÊNCIA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PN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NOMENCLATURA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CAT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MATR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ST_EMG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TPEMG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INFO 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QT_EMG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PRAZO DE ENTREGA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DPE VEE ONE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Atd/cancelada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ATRASO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DIAS CORRIDOS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Estoque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Retirado pela empresa? Obrigatório Recibo.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/>
                        <a:t>OBSERVAÇÃO COORDENADORIA / FISCAL</a:t>
                      </a:r>
                      <a:endParaRPr b="1" sz="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893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396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BABE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396260016517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3244809-1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FUEL CONTROL,MAIN,TU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2739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Emg concluída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IPLR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11/06/2026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11/06/2026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1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EA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22/06/2026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01/07/2026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9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20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Não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Sim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Informar o número do Recibo. Godoy 30/06/2026. Item recebido em 26/06 através do termo 020/GLOG-BE/2026, porém foram identificadas discrepância, foi aberto AT para o PAMA-SP para verificar a possibilidade de uso ou não da FCU. No dia 30/06 a emergência foi dada como atendida, porém ainda sem resposta se será necessário atendimento de outra FCU ou não. Ramon 01/07/26.</a:t>
                      </a:r>
                      <a:endParaRPr sz="8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" name="Google Shape;142;g3f3269ed38f_1_58"/>
          <p:cNvGraphicFramePr/>
          <p:nvPr/>
        </p:nvGraphicFramePr>
        <p:xfrm>
          <a:off x="152400" y="29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{F7E20384-2E9D-48F9-A33C-84B13EF97D0C}</a:tableStyleId>
              </a:tblPr>
              <a:tblGrid>
                <a:gridCol w="840225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  <a:gridCol w="368200"/>
              </a:tblGrid>
              <a:tr h="3095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DIA</a:t>
                      </a:r>
                      <a:endParaRPr b="1"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ANV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19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21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22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23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24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25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26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28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30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1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Q</a:t>
                      </a:r>
                      <a:endParaRPr b="1" sz="1100"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S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rgbClr val="FF0000"/>
                          </a:solidFill>
                        </a:rPr>
                        <a:t>D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T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2739</a:t>
                      </a:r>
                      <a:endParaRPr b="1" sz="1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395e784ee47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775" y="181925"/>
            <a:ext cx="7154351" cy="631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f3999c3459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31577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f1f80fe6f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4603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c6eec296aa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5171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e0843aab78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850" y="78975"/>
            <a:ext cx="7541965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0843aab78_0_94"/>
          <p:cNvSpPr txBox="1"/>
          <p:nvPr/>
        </p:nvSpPr>
        <p:spPr>
          <a:xfrm>
            <a:off x="3112550" y="-104100"/>
            <a:ext cx="39819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Empréstimo em </a:t>
            </a:r>
            <a:r>
              <a:rPr lang="pt-BR" sz="2800">
                <a:solidFill>
                  <a:schemeClr val="dk1"/>
                </a:solidFill>
              </a:rPr>
              <a:t>Junho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e0843aab78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7950"/>
            <a:ext cx="11887204" cy="6150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3999c3459_0_21"/>
          <p:cNvSpPr txBox="1"/>
          <p:nvPr/>
        </p:nvSpPr>
        <p:spPr>
          <a:xfrm>
            <a:off x="3112550" y="-104100"/>
            <a:ext cx="39819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f3999c3459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7000"/>
            <a:ext cx="11887201" cy="6001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3999c3459_0_7"/>
          <p:cNvSpPr txBox="1"/>
          <p:nvPr/>
        </p:nvSpPr>
        <p:spPr>
          <a:xfrm>
            <a:off x="3112550" y="-104100"/>
            <a:ext cx="39819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f3999c3459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7000"/>
            <a:ext cx="11887201" cy="6001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3999c3459_0_29"/>
          <p:cNvSpPr txBox="1"/>
          <p:nvPr/>
        </p:nvSpPr>
        <p:spPr>
          <a:xfrm>
            <a:off x="3112550" y="-104100"/>
            <a:ext cx="39819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g3f3999c3459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7000"/>
            <a:ext cx="11887201" cy="6001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b2fd9cce8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398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2025-08-19T13:24:21Z</dcterms:created>
  <dc:creator>Cássia Alves de Lima</dc:creator>
</cp:coreProperties>
</file>